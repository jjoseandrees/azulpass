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</ns0:sldIdLst>
  <ns0:sldSz cx="12192000" cy="6858000" type="screen4x3"/>
  <ns0:notesSz cx="6858000" cy="9144000"/>
  <ns0:embeddedFontLst>
    <ns0:embeddedFont>
      <ns0:font typeface="Inter"/>
      <ns0:bold ns1:id="rIdFont19"/>
      <ns0:regular ns1:id="rIdFont20"/>
    </ns0:embeddedFont>
    <ns0:embeddedFont>
      <ns0:font typeface="Barlow Condensed"/>
      <ns0:bold ns1:id="rIdFont21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Font19" Type="http://schemas.openxmlformats.org/officeDocument/2006/relationships/font" Target="fonts/5a77a392-eb7e-44e7-9eda-e387237f057c.fntdata" /><ns0:Relationship Id="rIdFont20" Type="http://schemas.openxmlformats.org/officeDocument/2006/relationships/font" Target="fonts/b9d81bc7-20c7-4731-8902-f84578cbe766.fntdata" /><ns0:Relationship Id="rIdFont21" Type="http://schemas.openxmlformats.org/officeDocument/2006/relationships/font" Target="fonts/4c2d7446-c17e-4040-ac85-90847345a6b5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695950"/>
            <a:ext cx="10972800" cy="628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5695950"/>
            <a:ext cx="109728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5334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E5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0" y="642937"/>
            <a:ext cx="396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FB2DA"/>
                </a:solidFill>
                <a:latin typeface="Inter"/>
              </a:rPr>
              <a:t>INGT1003 · Arquitectura de Desarrollo (Móvil y Web)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269926"/>
            <a:ext cx="1012031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5243B"/>
                </a:solidFill>
                <a:latin typeface="Barlow Condensed"/>
              </a:rPr>
              <a:t>PROPUESTA DE PRODUCTO · HITO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527101"/>
            <a:ext cx="8601075" cy="1279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b="1" sz="4800" i="0" u="none">
                <a:solidFill>
                  <a:srgbClr val="FFFFFF"/>
                </a:solidFill>
                <a:latin typeface="Barlow Condensed"/>
              </a:rPr>
              <a:t>TU ENTRADA Y TU PARTIDO, EN UN SOLO LUGAR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997523"/>
            <a:ext cx="69532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9FB2DA"/>
                </a:solidFill>
                <a:latin typeface="Inter"/>
              </a:rPr>
              <a:t>Plataforma omnicanal para optimizar el acceso, información y compra de entradas en tres pasos para el hincha de la 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33400"/>
            <a:ext cx="4762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800" i="0" u="none">
                <a:solidFill>
                  <a:srgbClr val="FFFFFF"/>
                </a:solidFill>
                <a:latin typeface="Barlow Condensed"/>
              </a:rPr>
              <a:t>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" y="561975"/>
            <a:ext cx="125730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FFFFFF"/>
                </a:solidFill>
                <a:latin typeface="Barlow Condensed"/>
              </a:rPr>
              <a:t>AzulPass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5934075"/>
            <a:ext cx="6012656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FB2DA"/>
                </a:solidFill>
                <a:latin typeface="Inter"/>
              </a:rPr>
              <a:t>Equipo de Desarrollo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134100"/>
            <a:ext cx="601265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Inter"/>
              </a:rPr>
              <a:t>José García (@jjoseandrees) · Vicente Oyarzun (@VicenteO0709)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462" y="5934075"/>
            <a:ext cx="483393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0" sz="1050" i="0" u="none">
                <a:solidFill>
                  <a:srgbClr val="9FB2DA"/>
                </a:solidFill>
                <a:latin typeface="Inter"/>
              </a:rPr>
              <a:t>Profesor &amp; Escuela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48462" y="6134100"/>
            <a:ext cx="483393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1" sz="1200" i="0" u="none">
                <a:solidFill>
                  <a:srgbClr val="FFFFFF"/>
                </a:solidFill>
                <a:latin typeface="Inter"/>
              </a:rPr>
              <a:t>Prof. Carlos Muñoz S. · Universidad Mayor (2S 2026)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905500"/>
            <a:ext cx="10972800" cy="4953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686050"/>
            <a:ext cx="3505200" cy="1733550"/>
          </a:xfrm>
          <a:prstGeom prst="roundRect">
            <a:avLst>
              <a:gd name="adj" fmla="val 6593"/>
            </a:avLst>
          </a:prstGeom>
          <a:solidFill>
            <a:srgbClr val="F4F6FA"/>
          </a:solidFill>
          <a:ln w="9525">
            <a:solidFill>
              <a:srgbClr val="E1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2686050"/>
            <a:ext cx="3505200" cy="1733550"/>
          </a:xfrm>
          <a:prstGeom prst="roundRect">
            <a:avLst>
              <a:gd name="adj" fmla="val 6593"/>
            </a:avLst>
          </a:prstGeom>
          <a:solidFill>
            <a:srgbClr val="FFF1F2"/>
          </a:solidFill>
          <a:ln w="9525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2686050"/>
            <a:ext cx="3505200" cy="1733550"/>
          </a:xfrm>
          <a:prstGeom prst="roundRect">
            <a:avLst>
              <a:gd name="adj" fmla="val 6593"/>
            </a:avLst>
          </a:prstGeom>
          <a:solidFill>
            <a:srgbClr val="F4F6FA"/>
          </a:solidFill>
          <a:ln w="9525">
            <a:solidFill>
              <a:srgbClr val="E1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5905500"/>
            <a:ext cx="38100" cy="495300"/>
          </a:xfrm>
          <a:prstGeom prst="rect">
            <a:avLst/>
          </a:prstGeom>
          <a:solidFill>
            <a:srgbClr val="0B1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5243B"/>
                </a:solidFill>
                <a:latin typeface="Barlow Condensed"/>
              </a:rPr>
              <a:t>01. DIAGNÓSTICO DE MERCADO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14375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6122E"/>
                </a:solidFill>
                <a:latin typeface="Barlow Condensed"/>
              </a:rPr>
              <a:t>MUCHA PASIÓN, EXCESIVO TRÁMITE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6057900"/>
            <a:ext cx="113538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6122E"/>
                </a:solidFill>
                <a:latin typeface="Inter"/>
              </a:rPr>
              <a:t>Core Friction: Los hinchas arriesgan quedar fuera por información dispersa, fases emergentes de venta y requisitos dinámicos por fecha.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1481" y="3000375"/>
            <a:ext cx="3881437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b="1" sz="4800" i="0" u="none">
                <a:solidFill>
                  <a:srgbClr val="0B1F52"/>
                </a:solidFill>
                <a:latin typeface="Barlow Condensed"/>
              </a:rPr>
              <a:t>36.600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1481" y="3724275"/>
            <a:ext cx="3881437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4A5568"/>
                </a:solidFill>
                <a:latin typeface="Inter"/>
              </a:rPr>
              <a:t>Promedio de asistentes por partido en 2024 (Club con más público en Chile).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55281" y="3000375"/>
            <a:ext cx="3881437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b="1" sz="4800" i="0" u="none">
                <a:solidFill>
                  <a:srgbClr val="E5243B"/>
                </a:solidFill>
                <a:latin typeface="Barlow Condensed"/>
              </a:rPr>
              <a:t>+467%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55281" y="3724275"/>
            <a:ext cx="3881437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4A5568"/>
                </a:solidFill>
                <a:latin typeface="Inter"/>
              </a:rPr>
              <a:t>Aumento en reclamos por venta de entradas a espectáculos masivos.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9081" y="3000375"/>
            <a:ext cx="3881437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b="1" sz="4800" i="0" u="none">
                <a:solidFill>
                  <a:srgbClr val="0B1F52"/>
                </a:solidFill>
                <a:latin typeface="Barlow Condensed"/>
              </a:rPr>
              <a:t>58%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9081" y="3724275"/>
            <a:ext cx="3881437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4A5568"/>
                </a:solidFill>
                <a:latin typeface="Inter"/>
              </a:rPr>
              <a:t>Reclamos del sector entretenimiento concentrados en ticketeras.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0" y="2676525"/>
            <a:ext cx="4267200" cy="1123950"/>
          </a:xfrm>
          <a:prstGeom prst="roundRect">
            <a:avLst>
              <a:gd name="adj" fmla="val 10169"/>
            </a:avLst>
          </a:prstGeom>
          <a:solidFill>
            <a:srgbClr val="F4F6FA"/>
          </a:solidFill>
          <a:ln w="9525">
            <a:solidFill>
              <a:srgbClr val="E1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0" y="3952875"/>
            <a:ext cx="4267200" cy="1123950"/>
          </a:xfrm>
          <a:prstGeom prst="roundRect">
            <a:avLst>
              <a:gd name="adj" fmla="val 10169"/>
            </a:avLst>
          </a:prstGeom>
          <a:solidFill>
            <a:srgbClr val="F4F6FA"/>
          </a:solidFill>
          <a:ln w="9525">
            <a:solidFill>
              <a:srgbClr val="E1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325" y="2943225"/>
            <a:ext cx="190500" cy="171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3325" y="4219575"/>
            <a:ext cx="171450" cy="17145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9600" y="2847975"/>
          <a:ext cx="6400799" cy="20574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575941"/>
                <a:gridCol w="4824858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B1F52"/>
                          </a:solidFill>
                          <a:latin typeface="Inter"/>
                        </a:rPr>
                        <a:t>Rival / Fecha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B1F52"/>
                          </a:solidFill>
                          <a:latin typeface="Inter"/>
                        </a:rPr>
                        <a:t>Fases de Venta y Restricciones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6122E"/>
                          </a:solidFill>
                          <a:latin typeface="Inter"/>
                        </a:rPr>
                        <a:t>vs. U. La Calera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A5568"/>
                          </a:solidFill>
                          <a:latin typeface="Inter"/>
                        </a:rPr>
                        <a:t>Preventa 16:00 hrs · General 19:00 hrs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6122E"/>
                          </a:solidFill>
                          <a:latin typeface="Inter"/>
                        </a:rPr>
                        <a:t>vs. U. Católica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A5568"/>
                          </a:solidFill>
                          <a:latin typeface="Inter"/>
                        </a:rPr>
                        <a:t>3 Fases (10:00 / 14:00 / 16:00) · Exclusivo público local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6122E"/>
                          </a:solidFill>
                          <a:latin typeface="Inter"/>
                        </a:rPr>
                        <a:t>vs. Huachipato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A5568"/>
                          </a:solidFill>
                          <a:latin typeface="Inter"/>
                        </a:rPr>
                        <a:t>Preventa 11:00 hrs · General 17:00 hrs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6122E"/>
                          </a:solidFill>
                          <a:latin typeface="Inter"/>
                        </a:rPr>
                        <a:t>vs. Colo-Colo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A5568"/>
                          </a:solidFill>
                          <a:latin typeface="Inter"/>
                        </a:rPr>
                        <a:t>Preventa única 10:00 hrs · Aforo restringido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5243B"/>
                </a:solidFill>
                <a:latin typeface="Barlow Condensed"/>
              </a:rPr>
              <a:t>01. ANÁLISIS DE CONTEXTO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14375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6122E"/>
                </a:solidFill>
                <a:latin typeface="Barlow Condensed"/>
              </a:rPr>
              <a:t>CADA PARTIDO EXIGE REGLAS E INFORMACIÓN DISTINTAS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53325" y="2914650"/>
            <a:ext cx="4638675" cy="209550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B1F52"/>
                </a:solidFill>
                <a:latin typeface="Barlow Condensed"/>
              </a:rPr>
              <a:t>REQUISITOS OBLIGATORIOS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53325" y="3200400"/>
            <a:ext cx="38862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A5568"/>
                </a:solidFill>
                <a:latin typeface="Inter"/>
              </a:rPr>
              <a:t>Registro Nacional de Hinchas + Cédula de identidad física con chip legible.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53325" y="4191000"/>
            <a:ext cx="4638675" cy="209550"/>
          </a:xfrm>
          <a:prstGeom prst="rect">
            <a:avLst/>
          </a:prstGeom>
          <a:noFill/>
        </p:spPr>
        <p:txBody>
          <a:bodyPr wrap="none" lIns="2476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B1F52"/>
                </a:solidFill>
                <a:latin typeface="Barlow Condensed"/>
              </a:rPr>
              <a:t>PUNTO DE INEFICIENCIA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53325" y="4476750"/>
            <a:ext cx="38862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A5568"/>
                </a:solidFill>
                <a:latin typeface="Inter"/>
              </a:rPr>
              <a:t>El hincha debe consultar 5 fuentes distintas (Ticketeras, RRSS, WhatsApp, Metro).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352550"/>
            <a:ext cx="666750" cy="666750"/>
          </a:xfrm>
          <a:prstGeom prst="roundRect">
            <a:avLst>
              <a:gd name="adj" fmla="val 50000"/>
            </a:avLst>
          </a:prstGeom>
          <a:solidFill>
            <a:srgbClr val="0B1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700462"/>
            <a:ext cx="1935509" cy="1323975"/>
          </a:xfrm>
          <a:prstGeom prst="roundRect">
            <a:avLst>
              <a:gd name="adj" fmla="val 8633"/>
            </a:avLst>
          </a:prstGeom>
          <a:solidFill>
            <a:srgbClr val="F4F6FA"/>
          </a:solidFill>
          <a:ln w="9525">
            <a:solidFill>
              <a:srgbClr val="E1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68959" y="3776662"/>
            <a:ext cx="1935509" cy="1171575"/>
          </a:xfrm>
          <a:prstGeom prst="roundRect">
            <a:avLst>
              <a:gd name="adj" fmla="val 9756"/>
            </a:avLst>
          </a:prstGeom>
          <a:solidFill>
            <a:srgbClr val="F4F6FA"/>
          </a:solidFill>
          <a:ln w="9525">
            <a:solidFill>
              <a:srgbClr val="E1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128319" y="3700462"/>
            <a:ext cx="1935509" cy="1323975"/>
          </a:xfrm>
          <a:prstGeom prst="roundRect">
            <a:avLst>
              <a:gd name="adj" fmla="val 8633"/>
            </a:avLst>
          </a:prstGeom>
          <a:solidFill>
            <a:srgbClr val="F4F6FA"/>
          </a:solidFill>
          <a:ln w="9525">
            <a:solidFill>
              <a:srgbClr val="E1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87679" y="3700462"/>
            <a:ext cx="1935509" cy="1323975"/>
          </a:xfrm>
          <a:prstGeom prst="roundRect">
            <a:avLst>
              <a:gd name="adj" fmla="val 8633"/>
            </a:avLst>
          </a:prstGeom>
          <a:solidFill>
            <a:srgbClr val="F4F6FA"/>
          </a:solidFill>
          <a:ln w="9525">
            <a:solidFill>
              <a:srgbClr val="E1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47039" y="3700462"/>
            <a:ext cx="1935509" cy="1323975"/>
          </a:xfrm>
          <a:prstGeom prst="roundRect">
            <a:avLst>
              <a:gd name="adj" fmla="val 8633"/>
            </a:avLst>
          </a:prstGeom>
          <a:solidFill>
            <a:srgbClr val="F4F6FA"/>
          </a:solidFill>
          <a:ln w="9525">
            <a:solidFill>
              <a:srgbClr val="E1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443930" y="3900487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B1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703290" y="3976687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B1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62650" y="3900487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B1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2009" y="3900487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B1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481369" y="3900487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B1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9409" y="4286250"/>
            <a:ext cx="9525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8769" y="4286250"/>
            <a:ext cx="9525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129" y="4286250"/>
            <a:ext cx="9525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7489" y="4286250"/>
            <a:ext cx="95250" cy="152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5243B"/>
                </a:solidFill>
                <a:latin typeface="Barlow Condensed"/>
              </a:rPr>
              <a:t>02. PERSONA &amp; USER JOURNEY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714375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6122E"/>
                </a:solidFill>
                <a:latin typeface="Barlow Condensed"/>
              </a:rPr>
              <a:t>EL VIAJE ACTUAL DEL HINCHA: 5 PASOS FRAGMENTADOS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1352550"/>
            <a:ext cx="7620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100" i="0" u="none">
                <a:solidFill>
                  <a:srgbClr val="FFFFFF"/>
                </a:solidFill>
                <a:latin typeface="Inter"/>
              </a:rPr>
              <a:t>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6850" y="1471612"/>
            <a:ext cx="7025878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6122E"/>
                </a:solidFill>
                <a:latin typeface="Barlow Condensed"/>
              </a:rPr>
              <a:t>MATÍAS (28 AÑOS) — HINCHA FRECUENTE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6850" y="1719262"/>
            <a:ext cx="669131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66666"/>
                </a:solidFill>
                <a:latin typeface="Inter"/>
              </a:rPr>
              <a:t>Santiago · Profesional · Asiste 1-2 veces al mes con amigos al Estadio Nacional.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01055" y="3900487"/>
            <a:ext cx="5524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4700" y="4281487"/>
            <a:ext cx="2165309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6122E"/>
                </a:solidFill>
                <a:latin typeface="Barlow Condensed"/>
              </a:rPr>
              <a:t>ANUNCIO VENTA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6255" y="4519612"/>
            <a:ext cx="206219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66666"/>
                </a:solidFill>
                <a:latin typeface="Inter"/>
              </a:rPr>
              <a:t>Enterado por redes sociales.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0415" y="3976687"/>
            <a:ext cx="5524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54059" y="4357687"/>
            <a:ext cx="2165309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6122E"/>
                </a:solidFill>
                <a:latin typeface="Barlow Condensed"/>
              </a:rPr>
              <a:t>REGISTRO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05614" y="4595812"/>
            <a:ext cx="2062199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66666"/>
                </a:solidFill>
                <a:latin typeface="Inter"/>
              </a:rPr>
              <a:t>Valida su RNH en sistema.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19775" y="3900487"/>
            <a:ext cx="5524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13419" y="4281487"/>
            <a:ext cx="2165309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6122E"/>
                </a:solidFill>
                <a:latin typeface="Barlow Condensed"/>
              </a:rPr>
              <a:t>FILA VIRTUAL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64974" y="4519612"/>
            <a:ext cx="206219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66666"/>
                </a:solidFill>
                <a:latin typeface="Inter"/>
              </a:rPr>
              <a:t>Espera en ticketera externa.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79134" y="3900487"/>
            <a:ext cx="5524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72779" y="4281487"/>
            <a:ext cx="2165309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6122E"/>
                </a:solidFill>
                <a:latin typeface="Barlow Condensed"/>
              </a:rPr>
              <a:t>CONFIRMACIÓN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24334" y="4519612"/>
            <a:ext cx="206219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66666"/>
                </a:solidFill>
                <a:latin typeface="Inter"/>
              </a:rPr>
              <a:t>Consulta sector en WhatsApp.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8494" y="3900487"/>
            <a:ext cx="5524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32139" y="4281487"/>
            <a:ext cx="2165309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6122E"/>
                </a:solidFill>
                <a:latin typeface="Barlow Condensed"/>
              </a:rPr>
              <a:t>ACCESO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83694" y="4519612"/>
            <a:ext cx="206219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66666"/>
                </a:solidFill>
                <a:latin typeface="Inter"/>
              </a:rPr>
              <a:t>Busca e-ticket + transporte.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390650"/>
            <a:ext cx="3505200" cy="5010150"/>
          </a:xfrm>
          <a:prstGeom prst="roundRect">
            <a:avLst>
              <a:gd name="adj" fmla="val 3260"/>
            </a:avLst>
          </a:prstGeom>
          <a:solidFill>
            <a:srgbClr val="F4F6FA"/>
          </a:solidFill>
          <a:ln w="9525">
            <a:solidFill>
              <a:srgbClr val="E1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1390650"/>
            <a:ext cx="3505200" cy="5010150"/>
          </a:xfrm>
          <a:prstGeom prst="roundRect">
            <a:avLst>
              <a:gd name="adj" fmla="val 3260"/>
            </a:avLst>
          </a:prstGeom>
          <a:solidFill>
            <a:srgbClr val="F4F6FA"/>
          </a:solidFill>
          <a:ln w="9525">
            <a:solidFill>
              <a:srgbClr val="E1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1390650"/>
            <a:ext cx="3505200" cy="5010150"/>
          </a:xfrm>
          <a:prstGeom prst="roundRect">
            <a:avLst>
              <a:gd name="adj" fmla="val 3260"/>
            </a:avLst>
          </a:prstGeom>
          <a:solidFill>
            <a:srgbClr val="F4F6FA"/>
          </a:solidFill>
          <a:ln w="9525">
            <a:solidFill>
              <a:srgbClr val="E1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233737"/>
            <a:ext cx="302895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525" y="3324225"/>
            <a:ext cx="302895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325" y="3233737"/>
            <a:ext cx="302895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5243B"/>
                </a:solidFill>
                <a:latin typeface="Barlow Condensed"/>
              </a:rPr>
              <a:t>03. LA PROPUESTA DE VALOR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14375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6122E"/>
                </a:solidFill>
                <a:latin typeface="Barlow Condensed"/>
              </a:rPr>
              <a:t>AZULPASS: CENTRALIZACIÓN Y COMPRA EN 3 PASOS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690937"/>
            <a:ext cx="3975496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6122E"/>
                </a:solidFill>
                <a:latin typeface="Barlow Condensed"/>
              </a:rPr>
              <a:t>FICHA UNIFICADA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4014787"/>
            <a:ext cx="312420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A5568"/>
                </a:solidFill>
                <a:latin typeface="Inter"/>
              </a:rPr>
              <a:t>Horarios de apertura, fases de venta, logística de acceso y transporte en una sola vista.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525" y="3781425"/>
            <a:ext cx="3975496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6122E"/>
                </a:solidFill>
                <a:latin typeface="Barlow Condensed"/>
              </a:rPr>
              <a:t>COMPRA SIMPLIFICADA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525" y="4105275"/>
            <a:ext cx="31242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A5568"/>
                </a:solidFill>
                <a:latin typeface="Inter"/>
              </a:rPr>
              <a:t>Proceso optimizado de 3 pasos: selección de sector, datos de asistentes (RUT) y pago.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5325" y="3690937"/>
            <a:ext cx="38766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6122E"/>
                </a:solidFill>
                <a:latin typeface="Barlow Condensed"/>
              </a:rPr>
              <a:t>E-TICKET NOMINATIVO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5325" y="4014787"/>
            <a:ext cx="312420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A5568"/>
                </a:solidFill>
                <a:latin typeface="Inter"/>
              </a:rPr>
              <a:t>Generación inmediata de código QR vinculado al asistente, disponible offline en la app.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42446" y="3119437"/>
            <a:ext cx="5339953" cy="1514475"/>
          </a:xfrm>
          <a:prstGeom prst="roundRect">
            <a:avLst>
              <a:gd name="adj" fmla="val 7547"/>
            </a:avLst>
          </a:prstGeom>
          <a:solidFill>
            <a:srgbClr val="FFF1F2"/>
          </a:solidFill>
          <a:ln w="9525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967037"/>
            <a:ext cx="5404246" cy="466725"/>
          </a:xfrm>
          <a:prstGeom prst="roundRect">
            <a:avLst>
              <a:gd name="adj" fmla="val 16326"/>
            </a:avLst>
          </a:prstGeom>
          <a:solidFill>
            <a:srgbClr val="061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548062"/>
            <a:ext cx="2654498" cy="571500"/>
          </a:xfrm>
          <a:prstGeom prst="roundRect">
            <a:avLst>
              <a:gd name="adj" fmla="val 13333"/>
            </a:avLst>
          </a:prstGeom>
          <a:solidFill>
            <a:srgbClr val="F4F6FA"/>
          </a:solidFill>
          <a:ln w="9525">
            <a:solidFill>
              <a:srgbClr val="0B1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359348" y="3548062"/>
            <a:ext cx="2654498" cy="571500"/>
          </a:xfrm>
          <a:prstGeom prst="roundRect">
            <a:avLst>
              <a:gd name="adj" fmla="val 13333"/>
            </a:avLst>
          </a:prstGeom>
          <a:solidFill>
            <a:srgbClr val="F4F6FA"/>
          </a:solidFill>
          <a:ln w="9525">
            <a:solidFill>
              <a:srgbClr val="0B1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4214812"/>
            <a:ext cx="2654498" cy="571500"/>
          </a:xfrm>
          <a:prstGeom prst="roundRect">
            <a:avLst>
              <a:gd name="adj" fmla="val 13333"/>
            </a:avLst>
          </a:prstGeom>
          <a:solidFill>
            <a:srgbClr val="F4F6FA"/>
          </a:solidFill>
          <a:ln w="9525">
            <a:solidFill>
              <a:srgbClr val="0B1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9348" y="4214812"/>
            <a:ext cx="2654498" cy="571500"/>
          </a:xfrm>
          <a:prstGeom prst="roundRect">
            <a:avLst>
              <a:gd name="adj" fmla="val 13333"/>
            </a:avLst>
          </a:prstGeom>
          <a:solidFill>
            <a:srgbClr val="F4F6FA"/>
          </a:solidFill>
          <a:ln w="9525">
            <a:solidFill>
              <a:srgbClr val="0B1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0571" y="3719512"/>
            <a:ext cx="161925" cy="1428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571" y="3976687"/>
            <a:ext cx="180975" cy="1428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571" y="4233862"/>
            <a:ext cx="180975" cy="1428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5243B"/>
                </a:solidFill>
                <a:latin typeface="Barlow Condensed"/>
              </a:rPr>
              <a:t>04. ARQUITECTURA DE INFORMACIÓN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14375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6122E"/>
                </a:solidFill>
                <a:latin typeface="Barlow Condensed"/>
              </a:rPr>
              <a:t>ESTRUCTURA DE LA SOLUCIÓN Y MAPA DE NAVEGACIÓN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569" y="3100387"/>
            <a:ext cx="6374308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Inter"/>
              </a:rPr>
              <a:t>App AzulPass (Flutter)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0571" y="3357562"/>
            <a:ext cx="571142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E5243B"/>
                </a:solidFill>
                <a:latin typeface="Barlow Condensed"/>
              </a:rPr>
              <a:t>AMPLIACIÓN FUTURA (ETAPA 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" y="3662362"/>
            <a:ext cx="2521148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B1F52"/>
                </a:solidFill>
                <a:latin typeface="Inter"/>
              </a:rPr>
              <a:t>Inicio:</a:t>
            </a:r>
            <a:r>
              <a:rPr b="0" sz="1050" i="0" u="none">
                <a:solidFill>
                  <a:srgbClr val="000000"/>
                </a:solidFill>
                <a:latin typeface="Inter"/>
              </a:rPr>
              <a:t> Próximo partido, mapa "Antes de ir", accesos rápidos.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3648" y="3662362"/>
            <a:ext cx="2521148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B1F52"/>
                </a:solidFill>
                <a:latin typeface="Inter"/>
              </a:rPr>
              <a:t>Partidos:</a:t>
            </a:r>
            <a:r>
              <a:rPr b="0" sz="1050" i="0" u="none">
                <a:solidFill>
                  <a:srgbClr val="000000"/>
                </a:solidFill>
                <a:latin typeface="Inter"/>
              </a:rPr>
              <a:t> Catálogo de fechas, ficha técnica y flujo de compra.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900" y="4329112"/>
            <a:ext cx="2521148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B1F52"/>
                </a:solidFill>
                <a:latin typeface="Inter"/>
              </a:rPr>
              <a:t>Mis Entradas:</a:t>
            </a:r>
            <a:r>
              <a:rPr b="0" sz="1050" i="0" u="none">
                <a:solidFill>
                  <a:srgbClr val="000000"/>
                </a:solidFill>
                <a:latin typeface="Inter"/>
              </a:rPr>
              <a:t> Billetera digital de e-tickets nominativos QR.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3648" y="4329112"/>
            <a:ext cx="2521148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B1F52"/>
                </a:solidFill>
                <a:latin typeface="Inter"/>
              </a:rPr>
              <a:t>Info Estadio:</a:t>
            </a:r>
            <a:r>
              <a:rPr b="0" sz="1050" i="0" u="none">
                <a:solidFill>
                  <a:srgbClr val="000000"/>
                </a:solidFill>
                <a:latin typeface="Inter"/>
              </a:rPr>
              <a:t> Guía de transporte Metro L6, accesos y FAQ.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0571" y="3700462"/>
            <a:ext cx="5711428" cy="180975"/>
          </a:xfrm>
          <a:prstGeom prst="rect">
            <a:avLst/>
          </a:prstGeom>
          <a:noFill/>
        </p:spPr>
        <p:txBody>
          <a:bodyPr wrap="none" lIns="23812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A5568"/>
                </a:solidFill>
                <a:latin typeface="Inter"/>
              </a:rPr>
              <a:t>Tienda Oficial:</a:t>
            </a:r>
            <a:r>
              <a:rPr b="0" sz="1125" i="0" u="none">
                <a:solidFill>
                  <a:srgbClr val="4A5568"/>
                </a:solidFill>
                <a:latin typeface="Inter"/>
              </a:rPr>
              <a:t> Catálogo e indumentaria.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0571" y="3957637"/>
            <a:ext cx="5711428" cy="180975"/>
          </a:xfrm>
          <a:prstGeom prst="rect">
            <a:avLst/>
          </a:prstGeom>
          <a:noFill/>
        </p:spPr>
        <p:txBody>
          <a:bodyPr wrap="none" lIns="25717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A5568"/>
                </a:solidFill>
                <a:latin typeface="Inter"/>
              </a:rPr>
              <a:t>Multiclub:</a:t>
            </a:r>
            <a:r>
              <a:rPr b="0" sz="1125" i="0" u="none">
                <a:solidFill>
                  <a:srgbClr val="4A5568"/>
                </a:solidFill>
                <a:latin typeface="Inter"/>
              </a:rPr>
              <a:t> Expansión a otras instituciones.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0571" y="4214812"/>
            <a:ext cx="5711428" cy="180975"/>
          </a:xfrm>
          <a:prstGeom prst="rect">
            <a:avLst/>
          </a:prstGeom>
          <a:noFill/>
        </p:spPr>
        <p:txBody>
          <a:bodyPr wrap="none" lIns="25717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A5568"/>
                </a:solidFill>
                <a:latin typeface="Inter"/>
              </a:rPr>
              <a:t>Integración directa con el Registro Nacional de Hinchas.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309937"/>
            <a:ext cx="2628900" cy="1133475"/>
          </a:xfrm>
          <a:prstGeom prst="roundRect">
            <a:avLst>
              <a:gd name="adj" fmla="val 10084"/>
            </a:avLst>
          </a:prstGeom>
          <a:solidFill>
            <a:srgbClr val="F4F6FA"/>
          </a:solidFill>
          <a:ln w="9525">
            <a:solidFill>
              <a:srgbClr val="E1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390900" y="3309937"/>
            <a:ext cx="2628900" cy="1133475"/>
          </a:xfrm>
          <a:prstGeom prst="roundRect">
            <a:avLst>
              <a:gd name="adj" fmla="val 10084"/>
            </a:avLst>
          </a:prstGeom>
          <a:solidFill>
            <a:srgbClr val="F4F6FA"/>
          </a:solidFill>
          <a:ln w="9525">
            <a:solidFill>
              <a:srgbClr val="E1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72200" y="3309937"/>
            <a:ext cx="2628900" cy="1133475"/>
          </a:xfrm>
          <a:prstGeom prst="roundRect">
            <a:avLst>
              <a:gd name="adj" fmla="val 10084"/>
            </a:avLst>
          </a:prstGeom>
          <a:solidFill>
            <a:srgbClr val="F4F6FA"/>
          </a:solidFill>
          <a:ln w="9525">
            <a:solidFill>
              <a:srgbClr val="E1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53500" y="3309937"/>
            <a:ext cx="2628900" cy="1133475"/>
          </a:xfrm>
          <a:prstGeom prst="roundRect">
            <a:avLst>
              <a:gd name="adj" fmla="val 10084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5243B"/>
                </a:solidFill>
                <a:latin typeface="Barlow Condensed"/>
              </a:rPr>
              <a:t>05. DEMOSTRACIÓN DE PROTOTIPO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14375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6122E"/>
                </a:solidFill>
                <a:latin typeface="Barlow Condensed"/>
              </a:rPr>
              <a:t>EXPERIENCIA DE USUARIO: DEL PARTIDO A LA ENTRADA EN 3 CLICS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462337"/>
            <a:ext cx="2419350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E5243B"/>
                </a:solidFill>
                <a:latin typeface="Inter"/>
              </a:rPr>
              <a:t>Paso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3300" y="3462337"/>
            <a:ext cx="2419350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E5243B"/>
                </a:solidFill>
                <a:latin typeface="Inter"/>
              </a:rPr>
              <a:t>Paso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600" y="3462337"/>
            <a:ext cx="2419350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E5243B"/>
                </a:solidFill>
                <a:latin typeface="Inter"/>
              </a:rPr>
              <a:t>Paso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05900" y="3462337"/>
            <a:ext cx="2419350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6A34A"/>
                </a:solidFill>
                <a:latin typeface="Inter"/>
              </a:rPr>
              <a:t>Resultado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525" y="3671887"/>
            <a:ext cx="3025378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6122E"/>
                </a:solidFill>
                <a:latin typeface="Barlow Condensed"/>
              </a:rPr>
              <a:t>FICHA DEL PARTIDO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525" y="3957637"/>
            <a:ext cx="2400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66666"/>
                </a:solidFill>
                <a:latin typeface="Inter"/>
              </a:rPr>
              <a:t>Selección de encuentro, horario y consulta de requisitos nominativos.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2825" y="3671887"/>
            <a:ext cx="3025378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6122E"/>
                </a:solidFill>
                <a:latin typeface="Barlow Condensed"/>
              </a:rPr>
              <a:t>SELECCIÓN DE SECTOR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2825" y="3957637"/>
            <a:ext cx="2400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66666"/>
                </a:solidFill>
                <a:latin typeface="Inter"/>
              </a:rPr>
              <a:t>Mapa interactivo del Estadio Nacional (Pacífico, Andes, Galerías).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4125" y="3671887"/>
            <a:ext cx="3025378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6122E"/>
                </a:solidFill>
                <a:latin typeface="Barlow Condensed"/>
              </a:rPr>
              <a:t>CHECKOUT &amp; PAGO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4125" y="3957637"/>
            <a:ext cx="2400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66666"/>
                </a:solidFill>
                <a:latin typeface="Inter"/>
              </a:rPr>
              <a:t>Ingreso de RUT por asistente y simulación de pasarela de pago.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15425" y="3671887"/>
            <a:ext cx="3025378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6122E"/>
                </a:solidFill>
                <a:latin typeface="Barlow Condensed"/>
              </a:rPr>
              <a:t>E-TICKET QR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5425" y="3957637"/>
            <a:ext cx="2400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66666"/>
                </a:solidFill>
                <a:latin typeface="Inter"/>
              </a:rPr>
              <a:t>Generación instantánea de ticket con código dinámico en pantalla.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338387"/>
            <a:ext cx="10972800" cy="685800"/>
          </a:xfrm>
          <a:prstGeom prst="roundRect">
            <a:avLst>
              <a:gd name="adj" fmla="val 13888"/>
            </a:avLst>
          </a:prstGeom>
          <a:solidFill>
            <a:srgbClr val="0B1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414712"/>
            <a:ext cx="10972800" cy="923925"/>
          </a:xfrm>
          <a:prstGeom prst="roundRect">
            <a:avLst>
              <a:gd name="adj" fmla="val 10309"/>
            </a:avLst>
          </a:prstGeom>
          <a:solidFill>
            <a:srgbClr val="F4F6FA"/>
          </a:solidFill>
          <a:ln w="19050">
            <a:solidFill>
              <a:srgbClr val="0B1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729162"/>
            <a:ext cx="10972800" cy="685800"/>
          </a:xfrm>
          <a:prstGeom prst="roundRect">
            <a:avLst>
              <a:gd name="adj" fmla="val 13888"/>
            </a:avLst>
          </a:prstGeom>
          <a:solidFill>
            <a:srgbClr val="061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81050" y="3586162"/>
            <a:ext cx="3441650" cy="581025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9525">
            <a:solidFill>
              <a:srgbClr val="E1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75100" y="3586162"/>
            <a:ext cx="3441650" cy="581025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9525">
            <a:solidFill>
              <a:srgbClr val="E1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969150" y="3586162"/>
            <a:ext cx="3441650" cy="581025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9525">
            <a:solidFill>
              <a:srgbClr val="E1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4437" y="3157537"/>
            <a:ext cx="152400" cy="1333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7850" y="4471987"/>
            <a:ext cx="152400" cy="133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5243B"/>
                </a:solidFill>
                <a:latin typeface="Barlow Condensed"/>
              </a:rPr>
              <a:t>06. ARQUITECTURA DEL SISTEMA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14375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6122E"/>
                </a:solidFill>
                <a:latin typeface="Barlow Condensed"/>
              </a:rPr>
              <a:t>DISEÑO EN 3 CAPAS Y COMUNICACIÓN REST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-304800" y="2490787"/>
            <a:ext cx="12801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Inter"/>
              </a:rPr>
              <a:t>CLIENTE: Aplicación Flutter (Dart)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381000" y="3138487"/>
            <a:ext cx="12954000" cy="161925"/>
          </a:xfrm>
          <a:prstGeom prst="rect">
            <a:avLst/>
          </a:prstGeom>
          <a:noFill/>
        </p:spPr>
        <p:txBody>
          <a:bodyPr wrap="none" lIns="15240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B1F52"/>
                </a:solidFill>
                <a:latin typeface="Inter"/>
              </a:rPr>
              <a:t>JSON sobre HTTPS (API REST)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381000" y="4452937"/>
            <a:ext cx="12954000" cy="161925"/>
          </a:xfrm>
          <a:prstGeom prst="rect">
            <a:avLst/>
          </a:prstGeom>
          <a:noFill/>
        </p:spPr>
        <p:txBody>
          <a:bodyPr wrap="none" lIns="15240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B1F52"/>
                </a:solidFill>
                <a:latin typeface="Inter"/>
              </a:rPr>
              <a:t>Driver 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-304800" y="4881562"/>
            <a:ext cx="12801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Inter"/>
              </a:rPr>
              <a:t>PERSISTENCIA: PostgreSQL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-285750" y="2719387"/>
            <a:ext cx="127635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9FB2DA"/>
                </a:solidFill>
                <a:latin typeface="Inter"/>
              </a:rPr>
              <a:t>Capa de Presentación Multiplataforma (Android, iOS y Web)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143" y="3700462"/>
            <a:ext cx="4073462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B1F52"/>
                </a:solidFill>
                <a:latin typeface="Inter"/>
              </a:rPr>
              <a:t>Capa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59194" y="3700462"/>
            <a:ext cx="4073462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B1F52"/>
                </a:solidFill>
                <a:latin typeface="Inter"/>
              </a:rPr>
              <a:t>Capa Negocio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53244" y="3700462"/>
            <a:ext cx="4073462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B1F52"/>
                </a:solidFill>
                <a:latin typeface="Inter"/>
              </a:rPr>
              <a:t>Capa 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-285750" y="5110162"/>
            <a:ext cx="127635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9FB2DA"/>
                </a:solidFill>
                <a:latin typeface="Inter"/>
              </a:rPr>
              <a:t>Base de datos relacional para consistencia transaccional de stock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624" y="3900487"/>
            <a:ext cx="39925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666666"/>
                </a:solidFill>
                <a:latin typeface="Inter"/>
              </a:rPr>
              <a:t>Controladores, rutas y validación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99675" y="3900487"/>
            <a:ext cx="39925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666666"/>
                </a:solidFill>
                <a:latin typeface="Inter"/>
              </a:rPr>
              <a:t>Reglas de stock, nominatividad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3725" y="3900487"/>
            <a:ext cx="39925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666666"/>
                </a:solidFill>
                <a:latin typeface="Inter"/>
              </a:rPr>
              <a:t>Repositorios y ORM / Consultas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52775"/>
            <a:ext cx="3530649" cy="1447800"/>
          </a:xfrm>
          <a:prstGeom prst="roundRect">
            <a:avLst>
              <a:gd name="adj" fmla="val 7894"/>
            </a:avLst>
          </a:prstGeom>
          <a:solidFill>
            <a:srgbClr val="F4F6FA"/>
          </a:solidFill>
          <a:ln w="9525">
            <a:solidFill>
              <a:srgbClr val="E1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30749" y="3071812"/>
            <a:ext cx="3530649" cy="1609725"/>
          </a:xfrm>
          <a:prstGeom prst="roundRect">
            <a:avLst>
              <a:gd name="adj" fmla="val 7100"/>
            </a:avLst>
          </a:prstGeom>
          <a:solidFill>
            <a:srgbClr val="F4F6FA"/>
          </a:solidFill>
          <a:ln w="9525">
            <a:solidFill>
              <a:srgbClr val="E1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3071812"/>
            <a:ext cx="3530649" cy="1609725"/>
          </a:xfrm>
          <a:prstGeom prst="roundRect">
            <a:avLst>
              <a:gd name="adj" fmla="val 7100"/>
            </a:avLst>
          </a:prstGeom>
          <a:solidFill>
            <a:srgbClr val="F4F6FA"/>
          </a:solidFill>
          <a:ln w="9525">
            <a:solidFill>
              <a:srgbClr val="E1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5243B"/>
                </a:solidFill>
                <a:latin typeface="Barlow Condensed"/>
              </a:rPr>
              <a:t>07. TRADE-OFFS &amp; TECH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14375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6122E"/>
                </a:solidFill>
                <a:latin typeface="Barlow Condensed"/>
              </a:rPr>
              <a:t>JUSTIFICACIÓN DEL STACK TECNOLÓGICO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3352800"/>
            <a:ext cx="410891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B1F52"/>
                </a:solidFill>
                <a:latin typeface="Barlow Condensed"/>
              </a:rPr>
              <a:t>FRONTEND: FLUTTER (DART)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657600"/>
            <a:ext cx="3225849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A5568"/>
                </a:solidFill>
                <a:latin typeface="Inter"/>
              </a:rPr>
              <a:t>Ventaja:</a:t>
            </a:r>
            <a:r>
              <a:rPr b="0" sz="1050" i="0" u="none">
                <a:solidFill>
                  <a:srgbClr val="4A5568"/>
                </a:solidFill>
                <a:latin typeface="Inter"/>
              </a:rPr>
              <a:t> Código único para Android, iOS y Web. Alta reutilización del prototipo inicial.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4095750"/>
            <a:ext cx="322584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E5243B"/>
                </a:solidFill>
                <a:latin typeface="Inter"/>
              </a:rPr>
              <a:t>Trade-off:</a:t>
            </a:r>
            <a:r>
              <a:rPr b="0" sz="975" i="0" u="none">
                <a:solidFill>
                  <a:srgbClr val="E5243B"/>
                </a:solidFill>
                <a:latin typeface="Inter"/>
              </a:rPr>
              <a:t> Mayor peso de carga inicial en la versión Web frente a React.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0774" y="3271837"/>
            <a:ext cx="410891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B1F52"/>
                </a:solidFill>
                <a:latin typeface="Barlow Condensed"/>
              </a:rPr>
              <a:t>BACKEND: NODE.JS + EXPRESS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0774" y="3576637"/>
            <a:ext cx="3225849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A5568"/>
                </a:solidFill>
                <a:latin typeface="Inter"/>
              </a:rPr>
              <a:t>Ventaja:</a:t>
            </a:r>
            <a:r>
              <a:rPr b="0" sz="1050" i="0" u="none">
                <a:solidFill>
                  <a:srgbClr val="4A5568"/>
                </a:solidFill>
                <a:latin typeface="Inter"/>
              </a:rPr>
              <a:t> Monolito modular de rápido desarrollo, arquitectura clara en 3 capas y API REST stateless.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0774" y="4176712"/>
            <a:ext cx="322584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E5243B"/>
                </a:solidFill>
                <a:latin typeface="Inter"/>
              </a:rPr>
              <a:t>Trade-off:</a:t>
            </a:r>
            <a:r>
              <a:rPr b="0" sz="975" i="0" u="none">
                <a:solidFill>
                  <a:srgbClr val="E5243B"/>
                </a:solidFill>
                <a:latin typeface="Inter"/>
              </a:rPr>
              <a:t> Requiere manejo cuidadoso de concurrencia en eventos masivos.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1924" y="3271837"/>
            <a:ext cx="39400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B1F52"/>
                </a:solidFill>
                <a:latin typeface="Barlow Condensed"/>
              </a:rPr>
              <a:t>BASE DE DATOS: POSTGRESQL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1924" y="3576637"/>
            <a:ext cx="3225849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A5568"/>
                </a:solidFill>
                <a:latin typeface="Inter"/>
              </a:rPr>
              <a:t>Ventaja:</a:t>
            </a:r>
            <a:r>
              <a:rPr b="0" sz="1050" i="0" u="none">
                <a:solidFill>
                  <a:srgbClr val="4A5568"/>
                </a:solidFill>
                <a:latin typeface="Inter"/>
              </a:rPr>
              <a:t> Propiedades ACID indispensables para prevenir sobreventa (double-booking) de asientos.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1924" y="4176712"/>
            <a:ext cx="322584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E5243B"/>
                </a:solidFill>
                <a:latin typeface="Inter"/>
              </a:rPr>
              <a:t>Trade-off:</a:t>
            </a:r>
            <a:r>
              <a:rPr b="0" sz="975" i="0" u="none">
                <a:solidFill>
                  <a:srgbClr val="E5243B"/>
                </a:solidFill>
                <a:latin typeface="Inter"/>
              </a:rPr>
              <a:t> Configuración e infraestructura más pesada que bases Documentales.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38475"/>
            <a:ext cx="3505200" cy="1714500"/>
          </a:xfrm>
          <a:prstGeom prst="roundRect">
            <a:avLst>
              <a:gd name="adj" fmla="val 6666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038475"/>
            <a:ext cx="3505200" cy="1714500"/>
          </a:xfrm>
          <a:prstGeom prst="roundRect">
            <a:avLst>
              <a:gd name="adj" fmla="val 6666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038475"/>
            <a:ext cx="3505200" cy="1714500"/>
          </a:xfrm>
          <a:prstGeom prst="roundRect">
            <a:avLst>
              <a:gd name="adj" fmla="val 6666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4743450"/>
            <a:ext cx="3505200" cy="9525"/>
          </a:xfrm>
          <a:prstGeom prst="rect">
            <a:avLst/>
          </a:prstGeom>
          <a:solidFill>
            <a:srgbClr val="E1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3038475"/>
            <a:ext cx="3505200" cy="38100"/>
          </a:xfrm>
          <a:prstGeom prst="rect">
            <a:avLst/>
          </a:prstGeom>
          <a:solidFill>
            <a:srgbClr val="0B1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3038475"/>
            <a:ext cx="9525" cy="1714500"/>
          </a:xfrm>
          <a:prstGeom prst="rect">
            <a:avLst/>
          </a:prstGeom>
          <a:solidFill>
            <a:srgbClr val="E1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05275" y="3038475"/>
            <a:ext cx="9525" cy="1714500"/>
          </a:xfrm>
          <a:prstGeom prst="rect">
            <a:avLst/>
          </a:prstGeom>
          <a:solidFill>
            <a:srgbClr val="E1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4743450"/>
            <a:ext cx="3505200" cy="9525"/>
          </a:xfrm>
          <a:prstGeom prst="rect">
            <a:avLst/>
          </a:prstGeom>
          <a:solidFill>
            <a:srgbClr val="E1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3038475"/>
            <a:ext cx="3505200" cy="38100"/>
          </a:xfrm>
          <a:prstGeom prst="rect">
            <a:avLst/>
          </a:prstGeom>
          <a:solidFill>
            <a:srgbClr val="E5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3038475"/>
            <a:ext cx="9525" cy="1714500"/>
          </a:xfrm>
          <a:prstGeom prst="rect">
            <a:avLst/>
          </a:prstGeom>
          <a:solidFill>
            <a:srgbClr val="E1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39075" y="3038475"/>
            <a:ext cx="9525" cy="1714500"/>
          </a:xfrm>
          <a:prstGeom prst="rect">
            <a:avLst/>
          </a:prstGeom>
          <a:solidFill>
            <a:srgbClr val="E1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77200" y="4743450"/>
            <a:ext cx="3505200" cy="9525"/>
          </a:xfrm>
          <a:prstGeom prst="rect">
            <a:avLst/>
          </a:prstGeom>
          <a:solidFill>
            <a:srgbClr val="E1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77200" y="3038475"/>
            <a:ext cx="3505200" cy="38100"/>
          </a:xfrm>
          <a:prstGeom prst="rect">
            <a:avLst/>
          </a:prstGeom>
          <a:solidFill>
            <a:srgbClr val="0B1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77200" y="3038475"/>
            <a:ext cx="9525" cy="1714500"/>
          </a:xfrm>
          <a:prstGeom prst="rect">
            <a:avLst/>
          </a:prstGeom>
          <a:solidFill>
            <a:srgbClr val="E1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572875" y="3038475"/>
            <a:ext cx="9525" cy="1714500"/>
          </a:xfrm>
          <a:prstGeom prst="rect">
            <a:avLst/>
          </a:prstGeom>
          <a:solidFill>
            <a:srgbClr val="E1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929062"/>
            <a:ext cx="114300" cy="1428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4148137"/>
            <a:ext cx="114300" cy="1428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4367212"/>
            <a:ext cx="114300" cy="1428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525" y="3929062"/>
            <a:ext cx="133350" cy="1428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525" y="4148137"/>
            <a:ext cx="133350" cy="1428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525" y="4367212"/>
            <a:ext cx="133350" cy="1428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325" y="3929062"/>
            <a:ext cx="133350" cy="1428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325" y="4148137"/>
            <a:ext cx="133350" cy="1428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325" y="4367212"/>
            <a:ext cx="133350" cy="14287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5243B"/>
                </a:solidFill>
                <a:latin typeface="Barlow Condensed"/>
              </a:rPr>
              <a:t>08. PLANIFICACIÓN DEL PROYECTO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714375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6122E"/>
                </a:solidFill>
                <a:latin typeface="Barlow Condensed"/>
              </a:rPr>
              <a:t>HOJA DE RUTA Y ENTREGABLES POR HITO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7725" y="3343275"/>
            <a:ext cx="160734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B1F52"/>
                </a:solidFill>
                <a:latin typeface="Inter"/>
              </a:rPr>
              <a:t>HITO 1 (COMPLETADO)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725" y="3552825"/>
            <a:ext cx="3975496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6122E"/>
                </a:solidFill>
                <a:latin typeface="Barlow Condensed"/>
              </a:rPr>
              <a:t>DISEÑO Y ARQUITECTURA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81525" y="3343275"/>
            <a:ext cx="154781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E5243B"/>
                </a:solidFill>
                <a:latin typeface="Inter"/>
              </a:rPr>
              <a:t>HITO 2 (30 OCTUBRE)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81525" y="3552825"/>
            <a:ext cx="3975496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6122E"/>
                </a:solidFill>
                <a:latin typeface="Barlow Condensed"/>
              </a:rPr>
              <a:t>BACKEND &amp; PERSISTENCE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15325" y="3343275"/>
            <a:ext cx="1774031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B1F52"/>
                </a:solidFill>
                <a:latin typeface="Inter"/>
              </a:rPr>
              <a:t>HITO 3 (27 NOV / 04 DIC)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15325" y="3552825"/>
            <a:ext cx="38766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6122E"/>
                </a:solidFill>
                <a:latin typeface="Barlow Condensed"/>
              </a:rPr>
              <a:t>INTEGRACIÓN FULL STACK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7725" y="3914775"/>
            <a:ext cx="3786187" cy="161925"/>
          </a:xfrm>
          <a:prstGeom prst="rect">
            <a:avLst/>
          </a:prstGeom>
          <a:noFill/>
        </p:spPr>
        <p:txBody>
          <a:bodyPr wrap="none" lIns="17145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A5568"/>
                </a:solidFill>
                <a:latin typeface="Inter"/>
              </a:rPr>
              <a:t>Informe técnico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7725" y="4133850"/>
            <a:ext cx="3786187" cy="161925"/>
          </a:xfrm>
          <a:prstGeom prst="rect">
            <a:avLst/>
          </a:prstGeom>
          <a:noFill/>
        </p:spPr>
        <p:txBody>
          <a:bodyPr wrap="none" lIns="17145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A5568"/>
                </a:solidFill>
                <a:latin typeface="Inter"/>
              </a:rPr>
              <a:t>Prototipo interactivo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7725" y="4352925"/>
            <a:ext cx="3786187" cy="161925"/>
          </a:xfrm>
          <a:prstGeom prst="rect">
            <a:avLst/>
          </a:prstGeom>
          <a:noFill/>
        </p:spPr>
        <p:txBody>
          <a:bodyPr wrap="none" lIns="17145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A5568"/>
                </a:solidFill>
                <a:latin typeface="Inter"/>
              </a:rPr>
              <a:t>Definición de stack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81525" y="3914775"/>
            <a:ext cx="3786187" cy="161925"/>
          </a:xfrm>
          <a:prstGeom prst="rect">
            <a:avLst/>
          </a:prstGeom>
          <a:noFill/>
        </p:spPr>
        <p:txBody>
          <a:bodyPr wrap="none" lIns="19050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A5568"/>
                </a:solidFill>
                <a:latin typeface="Inter"/>
              </a:rPr>
              <a:t>Servidor Express en 3 capas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81525" y="4133850"/>
            <a:ext cx="3786187" cy="161925"/>
          </a:xfrm>
          <a:prstGeom prst="rect">
            <a:avLst/>
          </a:prstGeom>
          <a:noFill/>
        </p:spPr>
        <p:txBody>
          <a:bodyPr wrap="none" lIns="19050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A5568"/>
                </a:solidFill>
                <a:latin typeface="Inter"/>
              </a:rPr>
              <a:t>Base de datos PostgreSQL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81525" y="4352925"/>
            <a:ext cx="3786187" cy="161925"/>
          </a:xfrm>
          <a:prstGeom prst="rect">
            <a:avLst/>
          </a:prstGeom>
          <a:noFill/>
        </p:spPr>
        <p:txBody>
          <a:bodyPr wrap="none" lIns="19050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A5568"/>
                </a:solidFill>
                <a:latin typeface="Inter"/>
              </a:rPr>
              <a:t>CRUD de partidos y tickets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15325" y="3914775"/>
            <a:ext cx="3786187" cy="161925"/>
          </a:xfrm>
          <a:prstGeom prst="rect">
            <a:avLst/>
          </a:prstGeom>
          <a:noFill/>
        </p:spPr>
        <p:txBody>
          <a:bodyPr wrap="none" lIns="19050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A5568"/>
                </a:solidFill>
                <a:latin typeface="Inter"/>
              </a:rPr>
              <a:t>App Flutter conectada a la API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15325" y="4133850"/>
            <a:ext cx="3786187" cy="161925"/>
          </a:xfrm>
          <a:prstGeom prst="rect">
            <a:avLst/>
          </a:prstGeom>
          <a:noFill/>
        </p:spPr>
        <p:txBody>
          <a:bodyPr wrap="none" lIns="19050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A5568"/>
                </a:solidFill>
                <a:latin typeface="Inter"/>
              </a:rPr>
              <a:t>E2E flujo de compra y QR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15325" y="4352925"/>
            <a:ext cx="3786187" cy="161925"/>
          </a:xfrm>
          <a:prstGeom prst="rect">
            <a:avLst/>
          </a:prstGeom>
          <a:noFill/>
        </p:spPr>
        <p:txBody>
          <a:bodyPr wrap="none" lIns="19050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A5568"/>
                </a:solidFill>
                <a:latin typeface="Inter"/>
              </a:rPr>
              <a:t>Modulo tienda secundario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424112"/>
            <a:ext cx="10972800" cy="866775"/>
          </a:xfrm>
          <a:prstGeom prst="roundRect">
            <a:avLst>
              <a:gd name="adj" fmla="val 13186"/>
            </a:avLst>
          </a:prstGeom>
          <a:solidFill>
            <a:srgbClr val="F4F6FA"/>
          </a:solidFill>
          <a:ln w="9525">
            <a:solidFill>
              <a:srgbClr val="E1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443287"/>
            <a:ext cx="10972800" cy="866775"/>
          </a:xfrm>
          <a:prstGeom prst="roundRect">
            <a:avLst>
              <a:gd name="adj" fmla="val 13186"/>
            </a:avLst>
          </a:prstGeom>
          <a:solidFill>
            <a:srgbClr val="F4F6FA"/>
          </a:solidFill>
          <a:ln w="9525">
            <a:solidFill>
              <a:srgbClr val="E1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462462"/>
            <a:ext cx="10972800" cy="866775"/>
          </a:xfrm>
          <a:prstGeom prst="roundRect">
            <a:avLst>
              <a:gd name="adj" fmla="val 13186"/>
            </a:avLst>
          </a:prstGeom>
          <a:solidFill>
            <a:srgbClr val="F4F6FA"/>
          </a:solidFill>
          <a:ln w="9525">
            <a:solidFill>
              <a:srgbClr val="E1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334625" y="2652712"/>
            <a:ext cx="1009650" cy="22860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334625" y="3671887"/>
            <a:ext cx="1009650" cy="22860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334625" y="4691062"/>
            <a:ext cx="1009650" cy="22860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5243B"/>
                </a:solidFill>
                <a:latin typeface="Barlow Condensed"/>
              </a:rPr>
              <a:t>09. GESTIÓN DEL PROYECTO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14375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6122E"/>
                </a:solidFill>
                <a:latin typeface="Barlow Condensed"/>
              </a:rPr>
              <a:t>MATRIZ DE RIESGOS Y MEDIDAS DE MITIGACIÓN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2671762"/>
            <a:ext cx="3900487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6122E"/>
                </a:solidFill>
                <a:latin typeface="Barlow Condensed"/>
              </a:rPr>
              <a:t>CURVA DE APRENDIZAJE EN DART / FLUTTER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2881312"/>
            <a:ext cx="37147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66666"/>
                </a:solidFill>
                <a:latin typeface="Inter"/>
              </a:rPr>
              <a:t>Riesgo de retraso en maquetación de pantallas.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53675" y="2690812"/>
            <a:ext cx="8763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975" i="0" u="none">
                <a:solidFill>
                  <a:srgbClr val="0F172A"/>
                </a:solidFill>
                <a:latin typeface="Inter"/>
              </a:rPr>
              <a:t>MITIGACIÓN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07993" y="2890837"/>
            <a:ext cx="4536281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1" sz="1050" i="0" u="none">
                <a:solidFill>
                  <a:srgbClr val="0B1F52"/>
                </a:solidFill>
                <a:latin typeface="Inter"/>
              </a:rPr>
              <a:t>Reutilización directa de estructuras del prototipo base.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3690937"/>
            <a:ext cx="408801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6122E"/>
                </a:solidFill>
                <a:latin typeface="Barlow Condensed"/>
              </a:rPr>
              <a:t>INTEGRACIÓN CON ENTORNO DE PAGOS REAL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3900487"/>
            <a:ext cx="389334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66666"/>
                </a:solidFill>
                <a:latin typeface="Inter"/>
              </a:rPr>
              <a:t>Complejidad de contratos con ticketeras oficiales.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53675" y="3709987"/>
            <a:ext cx="8763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975" i="0" u="none">
                <a:solidFill>
                  <a:srgbClr val="0F172A"/>
                </a:solidFill>
                <a:latin typeface="Inter"/>
              </a:rPr>
              <a:t>MITIGACIÓN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2618" y="3910012"/>
            <a:ext cx="5631656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1" sz="1050" i="0" u="none">
                <a:solidFill>
                  <a:srgbClr val="0B1F52"/>
                </a:solidFill>
                <a:latin typeface="Inter"/>
              </a:rPr>
              <a:t>Pasarela simulada en Sandbox durante todo el semestre académico.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725" y="4710112"/>
            <a:ext cx="4850606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6122E"/>
                </a:solidFill>
                <a:latin typeface="Barlow Condensed"/>
              </a:rPr>
              <a:t>PICOS SIMULTÁNEOS DE DEMANDA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725" y="4919662"/>
            <a:ext cx="46196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66666"/>
                </a:solidFill>
                <a:latin typeface="Inter"/>
              </a:rPr>
              <a:t>Saturación de peticiones en la API durante ventas masivas.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53675" y="4729162"/>
            <a:ext cx="8763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975" i="0" u="none">
                <a:solidFill>
                  <a:srgbClr val="0F172A"/>
                </a:solidFill>
                <a:latin typeface="Inter"/>
              </a:rPr>
              <a:t>MITIGACIÓN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74556" y="4929187"/>
            <a:ext cx="536971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1" sz="1050" i="0" u="none">
                <a:solidFill>
                  <a:srgbClr val="0B1F52"/>
                </a:solidFill>
                <a:latin typeface="Inter"/>
              </a:rPr>
              <a:t>Pruebas de carga controladas simulando compras concurrentes.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829300" y="1743075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E5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86125" y="4391025"/>
            <a:ext cx="5619750" cy="723900"/>
          </a:xfrm>
          <a:prstGeom prst="roundRect">
            <a:avLst>
              <a:gd name="adj" fmla="val 15789"/>
            </a:avLst>
          </a:prstGeom>
          <a:solidFill>
            <a:srgbClr val="121E38"/>
          </a:solidFill>
          <a:ln w="9525">
            <a:solidFill>
              <a:srgbClr val="1F2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86425" y="1743075"/>
            <a:ext cx="81915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2400" i="0" u="none">
                <a:solidFill>
                  <a:srgbClr val="FFFFFF"/>
                </a:solidFill>
                <a:latin typeface="Barlow Condensed"/>
              </a:rPr>
              <a:t>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11328" y="2505075"/>
            <a:ext cx="236934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9FB2DA"/>
                </a:solidFill>
                <a:latin typeface="Barlow Condensed"/>
              </a:rPr>
              <a:t>DEFENSA HITO 1 · CONCLUSIÓN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20" y="2762250"/>
            <a:ext cx="12019359" cy="638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FFFFFF"/>
                </a:solidFill>
                <a:latin typeface="Barlow Condensed"/>
              </a:rPr>
              <a:t>QUE LO ÚNICO QUE SE COMPLIQUE SEA EL PARTIDO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47875" y="3552825"/>
            <a:ext cx="80962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FB2DA"/>
                </a:solidFill>
                <a:latin typeface="Inter"/>
              </a:rPr>
              <a:t>AzulPass transforma un proceso fragmentado e incierto en una experiencia rápida, clara y centralizada para el hincha.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6562" y="4552950"/>
            <a:ext cx="6238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Inter"/>
              </a:rPr>
              <a:t>¿Preguntas o comentarios?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6562" y="4791075"/>
            <a:ext cx="62388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9FB2DA"/>
                </a:solidFill>
                <a:latin typeface="Inter"/>
              </a:rPr>
              <a:t>José García &amp; Vicente Oyarzun · Escuela de Ingeniería Civil (Universidad Mayor)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